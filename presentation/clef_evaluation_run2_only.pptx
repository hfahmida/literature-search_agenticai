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51cd45449c4337" /><Relationship Type="http://schemas.openxmlformats.org/officeDocument/2006/relationships/extended-properties" Target="/docProps/app.xml" Id="R8169838e15da419e" /><Relationship Type="http://schemas.openxmlformats.org/officeDocument/2006/relationships/officeDocument" Target="/ppt/presentation.xml" Id="Rdde3f4cda93049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403e7113bd4626"/>
  </p:sldMasterIdLst>
  <p:notesMasterIdLst>
    <p:notesMasterId xmlns:r="http://schemas.openxmlformats.org/officeDocument/2006/relationships" r:id="R04860d44e5ae4c37"/>
  </p:notesMasterIdLst>
  <p:sldIdLst>
    <p:sldId xmlns:r="http://schemas.openxmlformats.org/officeDocument/2006/relationships" id="256" r:id="Ra904b0d82f29401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b915773d424d6a" /><Relationship Type="http://schemas.openxmlformats.org/officeDocument/2006/relationships/slideMaster" Target="/ppt/slideMasters/slideMaster1.xml" Id="Rab403e7113bd4626" /><Relationship Type="http://schemas.openxmlformats.org/officeDocument/2006/relationships/notesMaster" Target="/ppt/notesMasters/notesMaster1.xml" Id="R04860d44e5ae4c37" /><Relationship Type="http://schemas.openxmlformats.org/officeDocument/2006/relationships/presProps" Target="/ppt/presProps.xml" Id="R684a7c6a5b184bcd" /><Relationship Type="http://schemas.openxmlformats.org/officeDocument/2006/relationships/tableStyles" Target="/ppt/tableStyles.xml" Id="R2637a5d04e1d4977" /><Relationship Type="http://schemas.openxmlformats.org/officeDocument/2006/relationships/slide" Target="/ppt/slides/slide1.xml" Id="Ra904b0d82f2940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535a0321ec48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4cb3b8eecf43c0" /><Relationship Type="http://schemas.openxmlformats.org/officeDocument/2006/relationships/notesMaster" Target="/ppt/notesMasters/notesMaster1.xml" Id="R90765d6a377642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190071484e42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74bbe397cf4c0e" /><Relationship Type="http://schemas.openxmlformats.org/officeDocument/2006/relationships/slideLayout" Target="/ppt/slideLayouts/slideLayout1.xml" Id="Ree9fd202a60d44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9fd202a60d44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58150f3784ea6" /><Relationship Type="http://schemas.openxmlformats.org/officeDocument/2006/relationships/notesSlide" Target="/ppt/notesSlides/notesSlide1.xml" Id="R48b0b72f13d944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25C4A5-A322-410C-AD3D-6DBFE7C7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CLEF TAR Evaluation: Run 2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3D4C8-5B3D-4DE1-B6CB-9AA4101C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Topic CD000996: Inhaled corticosteroids for bronchiectasis | PubMed search + PubMedBERT ranking + Qwen screening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63391-3A92-4E49-ADC7-82F63371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000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June 17,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4DAFFC-C9DB-4274-9FF4-05E0B58B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3143250" cy="44005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367FE-EAA5-4651-9485-643E942D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85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Evaluation Steps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D172DB-DB98-4D1E-A10D-CB44FD1E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A0814-70DA-405C-A8A1-6AD9D82E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478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574FB-D93C-4F47-BC2C-E9134A85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812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Generate CLEF config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0C588B-04C1-4754-90FF-E82130D3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19325"/>
            <a:ext cx="2428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Use topic query and preserve CD000996 as run_label.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0F00D9-D151-42AE-8882-893B979E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B81CFA-3761-43AC-A2C6-EC96015E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622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FEFB7E-C340-4804-873C-886BF7F7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956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Run pipeline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50019F-5714-418F-8735-5EFC546F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33725"/>
            <a:ext cx="2428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Search PubMed, rank 197 candidates, extract 33 papers.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45C7D8-2600-4B1D-B442-7777962E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29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D25AB2-5202-4851-BFDA-B4D6B000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66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49F80C-AB03-4D7E-83F7-7E83FDE4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100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Evaluate against qrels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6D731C-1D9B-4AD7-87B1-9DB23678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48125"/>
            <a:ext cx="2428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Match PMIDs to CLEF gold labels and compute metrics.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FFA955-7BFF-4B6D-A118-B0B97DE1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419350"/>
            <a:ext cx="114300" cy="3048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F7E00A-6544-4B11-8820-82A4FB47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333750"/>
            <a:ext cx="114300" cy="3048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97D78C-B3FC-49F6-880F-2A94BBDF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238250"/>
            <a:ext cx="4095750" cy="44005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A7F3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98C520-A2D4-4A2C-BD7B-A738DFCC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049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65F4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Run 2: 33-Paper Evaluation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3DA159-E4B1-47A4-887F-BAC5A1F3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47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47857"/>
                </a:solidFill>
                <a:latin typeface="Aptos"/>
                <a:ea typeface="Aptos"/>
                <a:cs typeface="Aptos"/>
              </a:rPr>
              <a:t>197 ranked candidates | 33 extracted papers | 11 matched qrels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6B79FF-E73C-417D-95F0-9BCE1467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05050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Gold Retrieved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B4AA72-2927-4774-BADD-423A9EE7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33650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rPr>
              <a:t>3 / 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1037ED-AF85-4F50-968A-D351939D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52750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Search recall = 0.500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9FE252-2039-4724-981B-382DBD29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05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Precision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8ADAED-5AA6-409F-B49A-03565E8C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33650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rPr>
              <a:t>0.25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CF542C-765B-48BC-8755-DB1FBA0D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05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Recall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007A33-DC67-4538-91F7-18ADB650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33650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rPr>
              <a:t>1.00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5B983F-96CA-413F-9FAA-FB6005E6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38500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F1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1982E4-1B22-469D-87FA-2B9A0FC5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6710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rPr>
              <a:t>0.40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8D8E6F-7CAC-413B-9170-905E9BAF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385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Kappa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E2543B-2FB2-4474-B667-361256CA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67100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rPr>
              <a:t>0.154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C0512B-26E6-4A0F-BDC3-1DB3D228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385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WSS@95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B5487F-2FC2-4954-A21A-7A31F5AC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67100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rPr>
              <a:t>0.586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D85C89-4468-4F66-B349-E615AA21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862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screening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012C7F-B785-44F2-9759-DEEDE6D3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767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Recall@10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DF0DE8-9FA5-4674-B1FD-4953BA5E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14850"/>
            <a:ext cx="2000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A9391C-269B-4E49-8B30-54AC0FB1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14850"/>
            <a:ext cx="1334167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64CDF0-5C6E-4FE5-B762-49AA98AC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6722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0.667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AB7E8B-8C36-4AF3-9C7C-5219E34B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577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Recall@50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EC195F-54B6-464F-BF2A-157B89FC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95850"/>
            <a:ext cx="2000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6F777A-0E93-4B62-986A-C9320410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95850"/>
            <a:ext cx="20002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D274CF-A7A9-4092-B85C-90358AF4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4822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1.000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19FFD5-32E2-4A80-B771-AA236276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38250"/>
            <a:ext cx="3238500" cy="44005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793FF8-9190-41BE-AD84-374F43BA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5049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6899A6-2422-4736-A5ED-91EFB81B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621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Main bottleneck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AE30B5E-362B-4BAF-8E49-483DF707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9075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Search coverage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2FF490-7B2B-46F9-A7E5-439AFB08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241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The run retrieved half of the gold relevant papers. Ranking found all retrieved relevant papers by top 50, while Qwen screening preserved recall but had low precision.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064343C-02AE-4061-B70A-C8E74665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48100"/>
            <a:ext cx="24574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BFDB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A1E00BF-696A-4BC8-B595-C7354FC1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005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67482FC-A926-47B4-BB80-65C01ECA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2291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E3A8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E3A8A"/>
                </a:solidFill>
                <a:latin typeface="Aptos"/>
                <a:ea typeface="Aptos"/>
                <a:cs typeface="Aptos"/>
              </a:rPr>
              <a:t>Improve PubMed query translation and evaluate more CLEF topics.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ED8BF3B-6F66-441F-BB9F-1DAAD2C8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19650"/>
            <a:ext cx="24574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11430">
            <a:solidFill>
              <a:srgbClr val="FDE6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80FBB75-3534-42FF-812B-880CE70F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9530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2400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2400E"/>
                </a:solidFill>
                <a:latin typeface="Aptos"/>
                <a:ea typeface="Aptos"/>
                <a:cs typeface="Aptos"/>
              </a:rPr>
              <a:t>Single-topic result: useful for pipeline behavior, not a general benchmark.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FF9BD56-E4D0-4A7B-A0C3-7266A902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531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Sources: CLEF TAR qrels + local run 20260616-192955</a:t>
            </a:r>
          </a:p>
        </p:txBody>
      </p:sp>
    </p:spTree>
    <p:extLst>
      <p:ext uri="{BB962C8B-B14F-4D97-AF65-F5344CB8AC3E}">
        <p14:creationId xmlns:p14="http://schemas.microsoft.com/office/powerpoint/2010/main" val="8250134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2026-06-17T10:49:14.5600000Z</dcterms:created>
  <dcterms:modified xsi:type="dcterms:W3CDTF">2026-06-17T10:49:14.5600000Z</dcterms:modified>
</coreProperties>
</file>