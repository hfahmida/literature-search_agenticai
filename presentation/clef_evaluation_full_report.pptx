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6193d89f2b4fab" /><Relationship Type="http://schemas.openxmlformats.org/officeDocument/2006/relationships/extended-properties" Target="/docProps/app.xml" Id="R7fd08b873c4948af" /><Relationship Type="http://schemas.openxmlformats.org/officeDocument/2006/relationships/officeDocument" Target="/ppt/presentation.xml" Id="Rf3d3f01bda7740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b4dba7930844cf"/>
  </p:sldMasterIdLst>
  <p:notesMasterIdLst>
    <p:notesMasterId xmlns:r="http://schemas.openxmlformats.org/officeDocument/2006/relationships" r:id="R24e6cdbacb164e9b"/>
  </p:notesMasterIdLst>
  <p:sldIdLst>
    <p:sldId xmlns:r="http://schemas.openxmlformats.org/officeDocument/2006/relationships" id="256" r:id="R7ba155a6712b4334"/>
    <p:sldId xmlns:r="http://schemas.openxmlformats.org/officeDocument/2006/relationships" id="257" r:id="R4cee0cb7b9194e10"/>
    <p:sldId xmlns:r="http://schemas.openxmlformats.org/officeDocument/2006/relationships" id="258" r:id="Ra6ab5b5bde094d3b"/>
    <p:sldId xmlns:r="http://schemas.openxmlformats.org/officeDocument/2006/relationships" id="259" r:id="R2e9588f473da434c"/>
    <p:sldId xmlns:r="http://schemas.openxmlformats.org/officeDocument/2006/relationships" id="260" r:id="Re6a8aefbe80e432d"/>
    <p:sldId xmlns:r="http://schemas.openxmlformats.org/officeDocument/2006/relationships" id="261" r:id="Rf1203465d0f7483d"/>
    <p:sldId xmlns:r="http://schemas.openxmlformats.org/officeDocument/2006/relationships" id="262" r:id="R6409c94f703b4c0d"/>
    <p:sldId xmlns:r="http://schemas.openxmlformats.org/officeDocument/2006/relationships" id="263" r:id="R4e8537ee659c4c6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f3f47b44f5459a" /><Relationship Type="http://schemas.openxmlformats.org/officeDocument/2006/relationships/slideMaster" Target="/ppt/slideMasters/slideMaster1.xml" Id="Rfeb4dba7930844cf" /><Relationship Type="http://schemas.openxmlformats.org/officeDocument/2006/relationships/notesMaster" Target="/ppt/notesMasters/notesMaster1.xml" Id="R24e6cdbacb164e9b" /><Relationship Type="http://schemas.openxmlformats.org/officeDocument/2006/relationships/presProps" Target="/ppt/presProps.xml" Id="R14aab9e3b23d44d4" /><Relationship Type="http://schemas.openxmlformats.org/officeDocument/2006/relationships/tableStyles" Target="/ppt/tableStyles.xml" Id="R47e6ba9dd8bb4f84" /><Relationship Type="http://schemas.openxmlformats.org/officeDocument/2006/relationships/slide" Target="/ppt/slides/slide1.xml" Id="R7ba155a6712b4334" /><Relationship Type="http://schemas.openxmlformats.org/officeDocument/2006/relationships/slide" Target="/ppt/slides/slide2.xml" Id="R4cee0cb7b9194e10" /><Relationship Type="http://schemas.openxmlformats.org/officeDocument/2006/relationships/slide" Target="/ppt/slides/slide3.xml" Id="Ra6ab5b5bde094d3b" /><Relationship Type="http://schemas.openxmlformats.org/officeDocument/2006/relationships/slide" Target="/ppt/slides/slide4.xml" Id="R2e9588f473da434c" /><Relationship Type="http://schemas.openxmlformats.org/officeDocument/2006/relationships/slide" Target="/ppt/slides/slide5.xml" Id="Re6a8aefbe80e432d" /><Relationship Type="http://schemas.openxmlformats.org/officeDocument/2006/relationships/slide" Target="/ppt/slides/slide6.xml" Id="Rf1203465d0f7483d" /><Relationship Type="http://schemas.openxmlformats.org/officeDocument/2006/relationships/slide" Target="/ppt/slides/slide7.xml" Id="R6409c94f703b4c0d" /><Relationship Type="http://schemas.openxmlformats.org/officeDocument/2006/relationships/slide" Target="/ppt/slides/slide8.xml" Id="R4e8537ee659c4c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4b1175ca3b4c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273db46b8e4431" /><Relationship Type="http://schemas.openxmlformats.org/officeDocument/2006/relationships/notesMaster" Target="/ppt/notesMasters/notesMaster1.xml" Id="R057d1176ed2e49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5328e161de45f2" /><Relationship Type="http://schemas.openxmlformats.org/officeDocument/2006/relationships/notesMaster" Target="/ppt/notesMasters/notesMaster1.xml" Id="R5726259dcfef4c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6bcb9cc3ad404c" /><Relationship Type="http://schemas.openxmlformats.org/officeDocument/2006/relationships/notesMaster" Target="/ppt/notesMasters/notesMaster1.xml" Id="R4a84a93de96644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d15525e8604886" /><Relationship Type="http://schemas.openxmlformats.org/officeDocument/2006/relationships/notesMaster" Target="/ppt/notesMasters/notesMaster1.xml" Id="R9d5ccd3d20dc47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0db7a8545e4c7d" /><Relationship Type="http://schemas.openxmlformats.org/officeDocument/2006/relationships/notesMaster" Target="/ppt/notesMasters/notesMaster1.xml" Id="R51786ac6254347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693456093045a5" /><Relationship Type="http://schemas.openxmlformats.org/officeDocument/2006/relationships/notesMaster" Target="/ppt/notesMasters/notesMaster1.xml" Id="Rf0d52a30307241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bca09e68fa4748" /><Relationship Type="http://schemas.openxmlformats.org/officeDocument/2006/relationships/notesMaster" Target="/ppt/notesMasters/notesMaster1.xml" Id="Re9389ab60b4741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c075e03a8f4be5" /><Relationship Type="http://schemas.openxmlformats.org/officeDocument/2006/relationships/notesMaster" Target="/ppt/notesMasters/notesMaster1.xml" Id="Rf8f76be83a8f47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7bb0a2fbdc4a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c4172a7cfa47e9" /><Relationship Type="http://schemas.openxmlformats.org/officeDocument/2006/relationships/slideLayout" Target="/ppt/slideLayouts/slideLayout1.xml" Id="Rd07bc56ddcf649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7bc56ddcf649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8e75f7b724539" /><Relationship Type="http://schemas.openxmlformats.org/officeDocument/2006/relationships/notesSlide" Target="/ppt/notesSlides/notesSlide1.xml" Id="R0cb1d4ac0ef54c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af3bb52d84dd7" /><Relationship Type="http://schemas.openxmlformats.org/officeDocument/2006/relationships/notesSlide" Target="/ppt/notesSlides/notesSlide2.xml" Id="R8a938afc771348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e32c317bf4348" /><Relationship Type="http://schemas.openxmlformats.org/officeDocument/2006/relationships/notesSlide" Target="/ppt/notesSlides/notesSlide3.xml" Id="Rda87ed8654c541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4ae1108504160" /><Relationship Type="http://schemas.openxmlformats.org/officeDocument/2006/relationships/notesSlide" Target="/ppt/notesSlides/notesSlide4.xml" Id="R9aa895d3e2b248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19c8adb4f414e" /><Relationship Type="http://schemas.openxmlformats.org/officeDocument/2006/relationships/notesSlide" Target="/ppt/notesSlides/notesSlide5.xml" Id="Rbf3185a161224c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2a7616ffe4107" /><Relationship Type="http://schemas.openxmlformats.org/officeDocument/2006/relationships/notesSlide" Target="/ppt/notesSlides/notesSlide6.xml" Id="R5deb4c43eb5f43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4124e4fd04ddc" /><Relationship Type="http://schemas.openxmlformats.org/officeDocument/2006/relationships/notesSlide" Target="/ppt/notesSlides/notesSlide7.xml" Id="R399adda76e894b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9a0a62c1d4f62" /><Relationship Type="http://schemas.openxmlformats.org/officeDocument/2006/relationships/notesSlide" Target="/ppt/notesSlides/notesSlide8.xml" Id="R9784388bae6e4a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A5D0D1-CA9C-4285-A576-51DAE83D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95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Evaluation of a Local Agentic Literature Review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454FB-5E03-4692-BF91-D06E166C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Open-access benchmark test using CLEF TAR 2019 Task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F9BD0-EE0D-419A-A966-6742E029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51435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A28EB-356A-4124-9D19-46D087D5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Tested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1E787-DBB4-4801-B3B3-9873DE43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CD000996: Inhaled corticosteroids for bronchiectasis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8958A-0D4C-4AC6-8838-6D3014C0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33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Pipeline components: PubMed search, PubMedBERT ranking, local Qwen/Ollama screening and extraction.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D6E12-2D47-4A89-B41D-423803BD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4767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A7F3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0A8BF-5D53-4146-A6C1-8ADAF797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670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Ranked candidates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88F70-2850-4E62-B5B0-AE0B38E4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56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197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3EADE-E89E-4AA0-822C-9F381674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67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Extracted papers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466F0-273B-46D6-9B0B-F25A954E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956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33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B8BB6-2C83-4734-A0CB-F62B144C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76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Gold relevant retrieved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15E2D-BD2C-4159-8813-1BF1CCBA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3 / 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394A3-02A3-4DD0-911B-D2027718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339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Search recall = 0.500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A669E-ED46-4A4D-B380-7356E2DD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Main finding: search coverage is the bottleneck.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BD05A9-952F-49C6-8C83-AD2713CC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8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June 17, 2026</a:t>
            </a:r>
          </a:p>
        </p:txBody>
      </p:sp>
    </p:spTree>
    <p:extLst>
      <p:ext uri="{BB962C8B-B14F-4D97-AF65-F5344CB8AC3E}">
        <p14:creationId xmlns:p14="http://schemas.microsoft.com/office/powerpoint/2010/main" val="20349870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39D46E-736C-49CB-BA4C-F09A5701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Benchmark Data: CLEF TAR 2019 Task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629CC-D70D-4BA3-88E2-B7AD0DCD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Open-access systematic-review relevance judgments were used as the gold standard.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E69AC-C056-47E8-825C-67EB425E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CLEF TAR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2EBE8-0970-4239-83F3-BFB20ACB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4953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67DA9-6D48-42FB-93E8-F9EE6EE7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002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What the dataset contains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67DD1-7FE3-4B4C-BDC9-7927C0E2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D5ED9-FBEF-406A-B7E8-EEAF6D67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systematic-review topic/title and PubMed-style search query.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DA210-3463-4DEB-A09D-BCBBCF1D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723DC-74A0-4414-9904-52F577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pool of PubMed IDs associated with the review topic.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641A6-C727-4796-AADA-BE259E07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D55CC-9B09-4D52-8FBD-4A95173F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Gold relevance judgments, known as qrels.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C445A-ABAC-4AA6-A41B-9A0F2CC9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8CF4E-AC65-440F-8A64-4A624868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Each qrel marks a paper as relevant or not relevant.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416DE-2A09-47A5-8BDD-2CF2B82F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33500"/>
            <a:ext cx="4953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27B554-0244-487B-8AA4-BE4A5D46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02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Topic used in this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0FFD5-3AC2-4048-BBA0-AF728305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CLEF topic 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BA418-43DE-4E26-BA17-A1A54822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CD000996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48939D-7546-45E7-9948-625B31E5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Inhaled corticosteroids for bronchiectasis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F62F2-D51B-4CB4-BA99-21BF627D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Gold relevant papers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86366D-A2FA-4505-AD2F-6DDEC561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338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CB80DF-3A09-494C-897B-6DFBD09D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624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used as denominator for search recall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7ACFC4-723B-4820-BF6A-82DE7421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CLEF TAR 2019 Task 2 qrels + local pipeline outputs</a:t>
            </a:r>
          </a:p>
        </p:txBody>
      </p:sp>
    </p:spTree>
    <p:extLst>
      <p:ext uri="{BB962C8B-B14F-4D97-AF65-F5344CB8AC3E}">
        <p14:creationId xmlns:p14="http://schemas.microsoft.com/office/powerpoint/2010/main" val="6590502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F6A752-45D8-4BFF-B11C-31D3B1CA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Pipeline Run: What Was Evaluated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44DED-3F3E-4562-8D37-2ABBD528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local agent was run once on the CLEF topic and its saved outputs were compared with qrels.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C8939-F604-4048-9D08-70CCFA69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CLEF TAR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A6001-5A0E-4E35-AF45-8039E85C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14450"/>
            <a:ext cx="1066800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4209E-6B3F-4B90-9C67-A315F851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3550B-97D4-4976-8F38-2502AE96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764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70BD8-AECC-4A75-9D3D-FA684EC7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90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Search PubMed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008A4-9959-46C6-AF5E-BD0238A5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47875"/>
            <a:ext cx="271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CLEF-based config produced PubMed candidate records for the topic.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9DA5F-AA2B-40E8-89F8-02116023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840EB-9AD3-40AA-ACAB-664F3A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764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8A966-54E0-451A-967A-1F6C13A2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90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Rank candidates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32922-7B98-43B9-9DF0-F12F0E60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47875"/>
            <a:ext cx="271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PubMedBERT plus lexical overlap ranked candidates in ranked_candidates.json.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B42E6-C573-4303-B518-E26E4FE1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96E8A-258E-4139-83D1-5455F5D3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764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931301-2969-4215-AEF7-4178CDC1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90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Screen and extract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C825F-26C4-47E2-81DB-022377BA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47875"/>
            <a:ext cx="271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Qwen through Ollama assigned decisions and relevance scores.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3618A3-9203-42A4-B156-9E05735B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1930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B01EF1-BC6B-4BF2-9353-8A93EACE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1930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B0F78-4808-4D59-B0D0-DA29555E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Ranked candidates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23FA05-4697-4C33-917A-60F3E5C8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671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197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AA835D-A56D-40EC-B90A-5B2BFBEB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Extracted papers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660BC1-BBAD-47D1-A27D-6423C837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33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E9F2A6-24BD-491F-A614-ACECE8C2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385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Matched qrels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9784F5-8379-4FAA-9D52-04A8A0BB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671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211399-18A6-467D-898C-9BD92DC4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95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extracted papers matched to gold labels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EEA680-D93B-40DA-A070-0C4BCD87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Gold relevant total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EBE5C7-D358-4165-BFFD-4B670C8D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162538-E9D0-42C4-A8B7-1C0680B5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Gold retrieved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E6ECB0-C9EF-4F73-B647-986A28D7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671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82BC37-C919-4A2E-B10F-A430F247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Run folder: D:\Literature_Search\runs\20260616-192955-cd000996-inhaled-corticosteroids-for-bronchiectasis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9473E6-ACAD-4B77-9FA7-77F383BE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CLEF TAR 2019 Task 2 qrels + local pipeline outputs</a:t>
            </a:r>
          </a:p>
        </p:txBody>
      </p:sp>
    </p:spTree>
    <p:extLst>
      <p:ext uri="{BB962C8B-B14F-4D97-AF65-F5344CB8AC3E}">
        <p14:creationId xmlns:p14="http://schemas.microsoft.com/office/powerpoint/2010/main" val="358135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843D45-1E00-49FC-8946-F83E19BF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How The Evaluation Was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F3619-8F86-41CB-9EAA-781269D2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evaluator compared pipeline outputs against CLEF qrels using PubMed IDs.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DB8C0-7005-425C-86F5-EA071BAD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CLEF TAR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9E56C-FA9F-4970-A9AF-2A17C7FA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9530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D8B76-629C-46CB-A367-E64BE1ED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002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Files read by evaluator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388DC-BCCB-4109-855B-5C5F5B5C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D6616-1D05-43EE-AD00-CD224EAD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145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ranked_candidates.json: ranked search results and PubMed IDs.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A4630-C9E2-4266-AE6A-BA996591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DA3FF-9B66-4B91-8203-B5C0F6E3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extractions/*.json: Qwen decisions, relevance scores, and source IDs.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DF550-B1E8-4269-A4F1-D07FB1FF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43011-9436-42C5-9B22-77D7EFD2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861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CLEF qrels: gold relevant vs non-relevant PubMed IDs.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CB716-6C3B-450E-BF5B-BACE4DFA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314450"/>
            <a:ext cx="49530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6BCC7-598B-4DF3-A979-05E76C4E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002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Evaluation command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0C947-0CD3-4A3D-BA16-FE10DE81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4095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.\.venv\Scripts\python.exe scripts\evaluation\evaluate_clef_tar.py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--run-dir "D:\Literature_Search\runs\20260616-192955-cd000996-inhaled-corticosteroids-for-bronchiectasis"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--qrels "D:\Literature_Search\tar\2019-TAR\Task2\Testing\Intervention\qrels"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A14A1-7458-492C-9BED-6C0FC47A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052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Matching rule: PubMed IDs from pipeline records were matched to PubMed IDs in the qrels files.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95C92-41E2-4C77-9AFF-8713E18F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CLEF TAR 2019 Task 2 qrels + local pipeline outputs</a:t>
            </a:r>
          </a:p>
        </p:txBody>
      </p:sp>
    </p:spTree>
    <p:extLst>
      <p:ext uri="{BB962C8B-B14F-4D97-AF65-F5344CB8AC3E}">
        <p14:creationId xmlns:p14="http://schemas.microsoft.com/office/powerpoint/2010/main" val="12814302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3402F3-008E-42C1-9305-1C634AB6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Search Coverage: Can The Pipeline Find Relevant Papers?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8D8C1-8527-455C-BE0E-84DA3EFB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Search coverage measures whether gold relevant papers enter the candidate pool at all.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8A4D1-CEC7-4234-81F3-EA7C7788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CLEF TAR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1693C-4C5C-48D3-9CF7-B8B203DF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42862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A7F3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5A533-F432-4A8E-B2CB-C6B71FDB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5DE26-B988-42DE-8033-DAA5D78C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search recall = gold relevant papers retrieved / total gold relevant papers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04B38-517C-4516-AE14-564B11D9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Run 2: 3 / 6 = 0.500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0702D-B74C-442A-A0AB-90B72D16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Interpretation: the search stage retrieved half of the known relevant papers.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53F1D-D663-44CE-A48E-7D306681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4953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0331D-0069-492B-A22C-745C540C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Gold relevant total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73E3D-0894-4405-8FAD-D1A0C921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812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B3F63-8D1E-4E2A-B44E-84262A9C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52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Gold retrieved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7B56C0-77F1-42B0-99D1-DA19FD45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81225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F2B306-E0F0-4453-ACB7-F2FDC2A5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Search recall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D0012-4C2C-4D0E-8B6B-EFB0D777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33750"/>
            <a:ext cx="2952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CA256-109F-40FB-A87F-D81DED5E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33750"/>
            <a:ext cx="147637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54B755-7BBA-4C85-B4A3-1365B329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2861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0.500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81CD7-9D26-4EDB-A6DB-BAD0DD82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Key point: ranking and screening cannot recover papers that search never retrieved.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0D7925-F134-4DB2-AF98-01394FF2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CLEF TAR 2019 Task 2 qrels + local pipeline outputs</a:t>
            </a:r>
          </a:p>
        </p:txBody>
      </p:sp>
    </p:spTree>
    <p:extLst>
      <p:ext uri="{BB962C8B-B14F-4D97-AF65-F5344CB8AC3E}">
        <p14:creationId xmlns:p14="http://schemas.microsoft.com/office/powerpoint/2010/main" val="846580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A041AC-3969-4BC4-839F-CF3EF3F3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Ranking Performance: Are Relevant Papers Near The Top?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40115-AA7C-49E2-BB4E-E4ED10B6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Ranking metrics were computed from ranked_candidates.json after matching PMIDs to qrels.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8B9D4-478C-42CE-82D5-2A918123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CLEF TAR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381D8-5812-49F2-9D25-A0041CDF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971550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DEC47-ED00-464D-812D-9C9B90D1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F4671-A6C0-44A5-9A50-E7EC26A8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66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85D7F-47D4-42DA-AE3F-0C54F08C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6685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D1D7B-8D6A-4A1C-95E3-55A794F6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956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69052-26C0-44E0-B7B5-2A994927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Average precision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7D9F3-C99E-4F6A-92FC-47A61FFA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24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0.2394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340DE-F5B6-4E49-963A-CCB024FB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Precision accumulated across relevant-paper ranks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AA44E-F722-459D-855B-122CCFA7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Ranking WSS@95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612D0-6D5B-44F5-AF91-E77C009E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003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0.7266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472FB-7EF9-4E6F-AF22-CB36FCC2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0030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Potential work saved while reaching high recall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6C53D-D7CF-4196-B5F2-37AEE0F4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Recall@10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31F18-B9FE-413F-9C41-DD3CF4C2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76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0.6667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B0E25-3C61-4B9C-B8B7-2BBEC90A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765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Two-thirds of retrieved relevant papers were in top 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AA1AB9-4014-4907-AFB9-404A2FD2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Recall@50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940B20-12BA-441B-A129-8C1212B1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528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D800A4-5F9C-4A55-BE70-CE1D832D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5280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All retrieved relevant papers were in top 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47E335-183E-4E2D-BB74-72B7CE62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nDCG@10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B7EBAE-2791-494A-8B79-717CA1CC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29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0.3836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1658EA-B3B9-4F71-967C-59E15A56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Ranking quality with early positions rewarded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7D73C1-72DE-4F1D-9E52-1C03A488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nDCG@50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995763-68C4-4FDF-AFE0-9926F09D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053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0.4691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AD3761-7944-4567-9AA3-4AC0E866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0530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Ranking quality through top 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A82CFC-FE64-4D42-936D-04C304B6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9715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CB7DAD-0A3D-4FDC-8F2B-7CAFFF23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60282F-8198-4668-A62D-76C724AC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30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The ranking stage performed reasonably after retrieval: every retrieved relevant paper appeared by rank 50, but initial search still found only 3 of 6 gold relevant papers.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6FE5EA-E1BC-417E-8CF9-662F406A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CLEF TAR 2019 Task 2 qrels + local pipeline outputs</a:t>
            </a:r>
          </a:p>
        </p:txBody>
      </p:sp>
    </p:spTree>
    <p:extLst>
      <p:ext uri="{BB962C8B-B14F-4D97-AF65-F5344CB8AC3E}">
        <p14:creationId xmlns:p14="http://schemas.microsoft.com/office/powerpoint/2010/main" val="4986722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78511E-0388-4429-8AE2-2ECCD9E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Screening Performance: Qwen Include/Maybe/Exclude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658C2-EA3F-4AC0-B337-099FD8D4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For high-recall review screening, include and maybe were treated as positive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2B76C-69B8-4B92-9B7D-EC469DE2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CLEF TAR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960FE-AD25-4CCB-B344-67CD5EE8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51435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B127E-488A-4C48-A8D0-432542D7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Binary decision mapping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439F2-4867-4268-96C3-401EAAA2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9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3CDC5-5E3E-4027-A21A-C0DC6E2C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526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include = positive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66F16-D8A0-4A43-8E66-6962831F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F5070-ABFE-40C2-801A-D73331AD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maybe = positive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ABCE1-C995-464D-9C38-43364630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53910-01BB-412E-9EF1-29CC4870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exclude = negative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DC3A4-EAF9-4525-B12A-ED7B9DEB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This choice prioritizes avoiding false negatives, which is important in systematic reviews.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E99AF-4E89-4F1A-B73F-F318F12D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14450"/>
            <a:ext cx="47625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A7F3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2487E-2F79-48C5-912C-5333AE68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3C13FE-07DA-47C4-8925-ECF39014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0.25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580FD-3C8F-4680-993F-34621DDB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12AC3-7C9A-434C-9789-4D4997F0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1.00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FA417-C32F-4D1A-9993-D0C3823E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DAC75-C937-41F1-8132-614BEB66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0.40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33FA8-6F8B-48BE-952A-0B32DB4E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Cohen kappa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430A40-EFC3-4A8C-8189-4DD83EA5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0.1538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83BC5B-38DC-4CC7-8CE9-FB5AF797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Screening WSS@95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D7BD8A-EE26-4D4F-83E1-06CA22D6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767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0.5864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8663E8-26D6-48AC-9568-264CB6D4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05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False negatives: 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BA23D5-4ED1-48F3-BB88-C0445FFF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CLEF TAR 2019 Task 2 qrels + local pipeline outputs</a:t>
            </a:r>
          </a:p>
        </p:txBody>
      </p:sp>
    </p:spTree>
    <p:extLst>
      <p:ext uri="{BB962C8B-B14F-4D97-AF65-F5344CB8AC3E}">
        <p14:creationId xmlns:p14="http://schemas.microsoft.com/office/powerpoint/2010/main" val="18580390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15F570-5B38-405E-B1C0-BDF6C61B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Overall Interpretation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E38BD-6BEB-4D89-9C15-98EAB6BC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single-topic evaluation identifies where the pipeline needs improvement.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E838B-50F7-47ED-80D3-969ED8A7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CLEF TAR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687A5-AE89-40BA-B301-861F8AEC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4953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C3F11-4813-4921-9AC5-5A400321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57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Main conclusion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7283E-E25F-4B97-9856-28644BD9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Search coverage is the bottleneck.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887A4-AE41-4318-8F78-C2975A0F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3810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pipeline retrieved 3 of 6 gold relevant papers. Qwen preserved recall among matched extracted papers, but overall performance is limited by papers missing from the candidate pool.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02E3C-6B8B-45AB-866A-1C2F1FDA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This is a single-topic behavior test, not a general benchmark result.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8508D-03B7-4EC1-B22A-F4483FA3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52550"/>
            <a:ext cx="4953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EBF50-B87F-4BFE-B803-36083167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573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Recommended next improvements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0FE87-A8E6-47C1-B6EE-2ED82A43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38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AC22E-E1EA-453E-81C9-4DAEA106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Translate CLEF/PICO queries more faithfully into PubMed syntax.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0DCCF-6D65-4372-8E71-4E1D8238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D4113-9806-4E7B-A8B9-ADB07505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90850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Increase max_results_per_source and use multiple search strings.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6FAFF-76F5-4EBE-B694-2CB6F195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57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4073B-82B9-452F-96CE-293279AE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 query expansion terms before ranking.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A0ED0B-1E59-4FFA-B63A-4086CA5E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67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9EE3E4-3C16-43B9-A463-8C321B78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10050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Evaluate across more CLEF topics before reporting benchmark claims.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2245A-F782-4224-8B05-FF33BAA0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CLEF TAR 2019 Task 2 qrels + local pipeline outputs</a:t>
            </a:r>
          </a:p>
        </p:txBody>
      </p:sp>
    </p:spTree>
    <p:extLst>
      <p:ext uri="{BB962C8B-B14F-4D97-AF65-F5344CB8AC3E}">
        <p14:creationId xmlns:p14="http://schemas.microsoft.com/office/powerpoint/2010/main" val="346766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2026-06-17T11:07:43.8780000Z</dcterms:created>
  <dcterms:modified xsi:type="dcterms:W3CDTF">2026-06-17T11:07:43.8780000Z</dcterms:modified>
</coreProperties>
</file>