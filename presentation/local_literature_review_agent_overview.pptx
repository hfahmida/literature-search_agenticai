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0352" y="310896"/>
            <a:ext cx="7775448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111827"/>
                </a:solidFill>
                <a:latin typeface="Aptos"/>
              </a:rPr>
              <a:t>A free local agent for literature search, extraction, and systematic-review drafting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1569112"/>
            <a:ext cx="7132320" cy="406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0">
                <a:solidFill>
                  <a:srgbClr val="4B5563"/>
                </a:solidFill>
                <a:latin typeface="Aptos"/>
              </a:rPr>
              <a:t>The pipeline searches papers, ranks candidates with PubMedBERT, extracts structured evidence with a local Qwen model, and saves auditable JSON, paper summaries, and manuscript drafts.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17501A9-A348-457A-96AE-BAB67497E845}"/>
              </a:ext>
            </a:extLst>
          </p:cNvPr>
          <p:cNvGrpSpPr/>
          <p:nvPr/>
        </p:nvGrpSpPr>
        <p:grpSpPr>
          <a:xfrm>
            <a:off x="8375904" y="141732"/>
            <a:ext cx="3383280" cy="2423160"/>
            <a:chOff x="8236077" y="462486"/>
            <a:chExt cx="3383280" cy="2423160"/>
          </a:xfrm>
        </p:grpSpPr>
        <p:sp>
          <p:nvSpPr>
            <p:cNvPr id="5" name="Rounded Rectangle 4"/>
            <p:cNvSpPr/>
            <p:nvPr/>
          </p:nvSpPr>
          <p:spPr>
            <a:xfrm>
              <a:off x="8236077" y="462486"/>
              <a:ext cx="3383280" cy="2423160"/>
            </a:xfrm>
            <a:prstGeom prst="roundRect">
              <a:avLst/>
            </a:prstGeom>
            <a:solidFill>
              <a:srgbClr val="F8FAFC"/>
            </a:solidFill>
            <a:ln w="12700">
              <a:solidFill>
                <a:srgbClr val="D1D5D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531352" y="584049"/>
              <a:ext cx="2560320" cy="29260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700" b="1" dirty="0">
                  <a:solidFill>
                    <a:srgbClr val="111827"/>
                  </a:solidFill>
                  <a:latin typeface="Aptos"/>
                </a:rPr>
                <a:t>Why it matters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8485632" y="1271016"/>
              <a:ext cx="146304" cy="146304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732520" y="1234440"/>
              <a:ext cx="1188720" cy="20116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150" b="1" dirty="0">
                  <a:solidFill>
                    <a:srgbClr val="111827"/>
                  </a:solidFill>
                  <a:latin typeface="Aptos"/>
                </a:rPr>
                <a:t>No paid API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29800" y="1234440"/>
              <a:ext cx="1600200" cy="20116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080" b="0">
                  <a:solidFill>
                    <a:srgbClr val="4B5563"/>
                  </a:solidFill>
                  <a:latin typeface="Aptos"/>
                </a:rPr>
                <a:t>Runs with local Ollama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485632" y="1783080"/>
              <a:ext cx="146304" cy="146304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732520" y="1746504"/>
              <a:ext cx="1188720" cy="20116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150" b="1">
                  <a:solidFill>
                    <a:srgbClr val="111827"/>
                  </a:solidFill>
                  <a:latin typeface="Aptos"/>
                </a:rPr>
                <a:t>Auditable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829800" y="1746504"/>
              <a:ext cx="1600200" cy="20116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080" b="0" dirty="0">
                  <a:solidFill>
                    <a:srgbClr val="4B5563"/>
                  </a:solidFill>
                  <a:latin typeface="Aptos"/>
                </a:rPr>
                <a:t>JSON + Markdown outputs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485632" y="2295144"/>
              <a:ext cx="146304" cy="146304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732520" y="2258568"/>
              <a:ext cx="1188720" cy="20116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150" b="1">
                  <a:solidFill>
                    <a:srgbClr val="111827"/>
                  </a:solidFill>
                  <a:latin typeface="Aptos"/>
                </a:rPr>
                <a:t>Review-aware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829800" y="2258568"/>
              <a:ext cx="1600200" cy="20116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080" b="0">
                  <a:solidFill>
                    <a:srgbClr val="4B5563"/>
                  </a:solidFill>
                  <a:latin typeface="Aptos"/>
                </a:rPr>
                <a:t>Eligibility criteria embedded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30352" y="2395728"/>
            <a:ext cx="3474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50" b="1">
                <a:solidFill>
                  <a:srgbClr val="111827"/>
                </a:solidFill>
                <a:latin typeface="Aptos"/>
              </a:rPr>
              <a:t>Core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70632"/>
            <a:ext cx="2697480" cy="1463040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7512" y="2935224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29352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Aptos"/>
              </a:rPr>
              <a:t>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3300984"/>
            <a:ext cx="2295144" cy="6035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80">
                <a:solidFill>
                  <a:srgbClr val="4B5563"/>
                </a:solidFill>
                <a:latin typeface="Aptos"/>
              </a:defRPr>
            </a:pPr>
            <a:r>
              <a:rPr dirty="0"/>
              <a:t>Query </a:t>
            </a:r>
            <a:r>
              <a:rPr dirty="0" err="1"/>
              <a:t>Crossref</a:t>
            </a:r>
            <a:r>
              <a:rPr dirty="0"/>
              <a:t>, PubMed, and Semantic Scholar</a:t>
            </a:r>
          </a:p>
          <a:p>
            <a:pPr>
              <a:spcAft>
                <a:spcPts val="300"/>
              </a:spcAft>
              <a:defRPr sz="1180">
                <a:solidFill>
                  <a:srgbClr val="4B5563"/>
                </a:solidFill>
                <a:latin typeface="Aptos"/>
              </a:defRPr>
            </a:pPr>
            <a:r>
              <a:rPr dirty="0"/>
              <a:t>Collect title, abstract, DOI, authors, journal, and links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02152" y="2770632"/>
            <a:ext cx="2697480" cy="1463040"/>
          </a:xfrm>
          <a:prstGeom prst="roundRect">
            <a:avLst/>
          </a:prstGeom>
          <a:solidFill>
            <a:srgbClr val="FEFCE8"/>
          </a:solidFill>
          <a:ln w="1778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666744" y="2935224"/>
            <a:ext cx="320040" cy="320040"/>
          </a:xfrm>
          <a:prstGeom prst="ellipse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29352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Aptos"/>
              </a:rPr>
              <a:t>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300984"/>
            <a:ext cx="2295144" cy="6035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80">
                <a:solidFill>
                  <a:srgbClr val="4B5563"/>
                </a:solidFill>
                <a:latin typeface="Aptos"/>
              </a:defRPr>
            </a:pPr>
            <a:r>
              <a:rPr dirty="0"/>
              <a:t>Use </a:t>
            </a:r>
            <a:r>
              <a:rPr dirty="0" err="1"/>
              <a:t>PubMedBERT</a:t>
            </a:r>
            <a:r>
              <a:rPr dirty="0"/>
              <a:t> embeddings and lexical overlap</a:t>
            </a:r>
          </a:p>
          <a:p>
            <a:pPr>
              <a:spcAft>
                <a:spcPts val="300"/>
              </a:spcAft>
              <a:defRPr sz="1180">
                <a:solidFill>
                  <a:srgbClr val="4B5563"/>
                </a:solidFill>
                <a:latin typeface="Aptos"/>
              </a:defRPr>
            </a:pPr>
            <a:r>
              <a:rPr dirty="0"/>
              <a:t>Prioritize papers most aligned to the review question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2770632"/>
            <a:ext cx="2697480" cy="1481328"/>
          </a:xfrm>
          <a:prstGeom prst="roundRect">
            <a:avLst/>
          </a:prstGeom>
          <a:solidFill>
            <a:srgbClr val="F5F3FF"/>
          </a:solidFill>
          <a:ln w="177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665976" y="2935224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312" y="29352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Aptos"/>
              </a:rPr>
              <a:t>Extract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3300984"/>
            <a:ext cx="2295144" cy="6035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80">
                <a:solidFill>
                  <a:srgbClr val="4B5563"/>
                </a:solidFill>
                <a:latin typeface="Aptos"/>
              </a:defRPr>
            </a:pPr>
            <a:r>
              <a:t>Screen include / maybe / exclude</a:t>
            </a:r>
          </a:p>
          <a:p>
            <a:pPr>
              <a:spcAft>
                <a:spcPts val="300"/>
              </a:spcAft>
              <a:defRPr sz="1180">
                <a:solidFill>
                  <a:srgbClr val="4B5563"/>
                </a:solidFill>
                <a:latin typeface="Aptos"/>
              </a:defRPr>
            </a:pPr>
            <a:r>
              <a:t>Extract methods, outcomes, results, limitations, and takeaways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0616" y="2770632"/>
            <a:ext cx="2194560" cy="1463040"/>
          </a:xfrm>
          <a:prstGeom prst="roundRect">
            <a:avLst/>
          </a:prstGeom>
          <a:solidFill>
            <a:srgbClr val="FFF7ED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665208" y="2935224"/>
            <a:ext cx="320040" cy="3200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67544" y="2935224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Aptos"/>
              </a:rPr>
              <a:t>Draft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1784" y="3300984"/>
            <a:ext cx="1792224" cy="6035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80">
                <a:solidFill>
                  <a:srgbClr val="4B5563"/>
                </a:solidFill>
                <a:latin typeface="Aptos"/>
              </a:defRPr>
            </a:pPr>
            <a:r>
              <a:t>Aggregate included papers</a:t>
            </a:r>
          </a:p>
          <a:p>
            <a:pPr>
              <a:spcAft>
                <a:spcPts val="300"/>
              </a:spcAft>
              <a:defRPr sz="1180">
                <a:solidFill>
                  <a:srgbClr val="4B5563"/>
                </a:solidFill>
                <a:latin typeface="Aptos"/>
              </a:defRPr>
            </a:pPr>
            <a:r>
              <a:t>Create PRISMA-style manuscript draft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76E12C4-9492-4B44-B9D6-F650BC026B3D}"/>
              </a:ext>
            </a:extLst>
          </p:cNvPr>
          <p:cNvGrpSpPr/>
          <p:nvPr/>
        </p:nvGrpSpPr>
        <p:grpSpPr>
          <a:xfrm>
            <a:off x="257175" y="4663440"/>
            <a:ext cx="11447145" cy="1389174"/>
            <a:chOff x="502920" y="4663440"/>
            <a:chExt cx="11201400" cy="1143000"/>
          </a:xfrm>
        </p:grpSpPr>
        <p:sp>
          <p:nvSpPr>
            <p:cNvPr id="33" name="Rounded Rectangle 32"/>
            <p:cNvSpPr/>
            <p:nvPr/>
          </p:nvSpPr>
          <p:spPr>
            <a:xfrm>
              <a:off x="502920" y="4663440"/>
              <a:ext cx="11201400" cy="1143000"/>
            </a:xfrm>
            <a:prstGeom prst="roundRect">
              <a:avLst/>
            </a:prstGeom>
            <a:solidFill>
              <a:srgbClr val="F9FAFB"/>
            </a:solidFill>
            <a:ln w="12700">
              <a:solidFill>
                <a:srgbClr val="D1D5D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4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77240" y="4873752"/>
              <a:ext cx="2029504" cy="30388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111827"/>
                  </a:solidFill>
                  <a:latin typeface="Aptos"/>
                </a:rPr>
                <a:t>Primary outputs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04672" y="5285232"/>
              <a:ext cx="2213281" cy="22791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2563EB"/>
                  </a:solidFill>
                  <a:latin typeface="Aptos"/>
                </a:rPr>
                <a:t>ranked_candidates.json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04672" y="5532120"/>
              <a:ext cx="2246284" cy="2025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600" b="0">
                  <a:solidFill>
                    <a:srgbClr val="4B5563"/>
                  </a:solidFill>
                  <a:latin typeface="Aptos"/>
                </a:rPr>
                <a:t>Relevance-ranked paper list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02152" y="5285232"/>
              <a:ext cx="1695018" cy="22791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7C3AED"/>
                  </a:solidFill>
                  <a:latin typeface="Aptos"/>
                </a:rPr>
                <a:t>extractions/*.json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502152" y="5532120"/>
              <a:ext cx="2298236" cy="2025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600" b="0">
                  <a:solidFill>
                    <a:srgbClr val="4B5563"/>
                  </a:solidFill>
                  <a:latin typeface="Aptos"/>
                </a:rPr>
                <a:t>Structured evidence records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99632" y="5285232"/>
              <a:ext cx="2258769" cy="22791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EA580C"/>
                  </a:solidFill>
                  <a:latin typeface="Aptos"/>
                </a:rPr>
                <a:t>paper_summaries/*.md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199632" y="5532120"/>
              <a:ext cx="2216042" cy="2025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600" b="0">
                  <a:solidFill>
                    <a:srgbClr val="4B5563"/>
                  </a:solidFill>
                  <a:latin typeface="Aptos"/>
                </a:rPr>
                <a:t>Readable paper summaries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897112" y="5285232"/>
              <a:ext cx="1944173" cy="22791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DB2777"/>
                  </a:solidFill>
                  <a:latin typeface="Aptos"/>
                </a:rPr>
                <a:t>manuscript_final.md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897112" y="5532120"/>
              <a:ext cx="1909162" cy="2025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600" b="0">
                  <a:solidFill>
                    <a:srgbClr val="4B5563"/>
                  </a:solidFill>
                  <a:latin typeface="Aptos"/>
                </a:rPr>
                <a:t>Draft systematic review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Aptos"/>
              </a:rPr>
              <a:t>Local Literature Review Agent | Ollama + Qwen + PubMedBERT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565392"/>
            <a:ext cx="4572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1401" y="312901"/>
            <a:ext cx="6675120" cy="7078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00" b="1" dirty="0">
                <a:solidFill>
                  <a:srgbClr val="111827"/>
                </a:solidFill>
                <a:latin typeface="Aptos"/>
              </a:rPr>
              <a:t>How the local agent moves from search results to review-ready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401" y="1095934"/>
            <a:ext cx="6752082" cy="363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80" b="0" dirty="0" err="1">
                <a:solidFill>
                  <a:srgbClr val="4B5563"/>
                </a:solidFill>
                <a:latin typeface="Aptos"/>
              </a:rPr>
              <a:t>PubMedBERT</a:t>
            </a:r>
            <a:r>
              <a:rPr sz="1180" b="0" dirty="0">
                <a:solidFill>
                  <a:srgbClr val="4B5563"/>
                </a:solidFill>
                <a:latin typeface="Aptos"/>
              </a:rPr>
              <a:t> narrows the candidate set; </a:t>
            </a:r>
            <a:r>
              <a:rPr sz="1180" b="0" dirty="0" err="1">
                <a:solidFill>
                  <a:srgbClr val="4B5563"/>
                </a:solidFill>
                <a:latin typeface="Aptos"/>
              </a:rPr>
              <a:t>Qwen</a:t>
            </a:r>
            <a:r>
              <a:rPr sz="1180" b="0" dirty="0">
                <a:solidFill>
                  <a:srgbClr val="4B5563"/>
                </a:solidFill>
                <a:latin typeface="Aptos"/>
              </a:rPr>
              <a:t> performs screening, structured extraction, paper summaries, and final drafting.</a:t>
            </a:r>
          </a:p>
        </p:txBody>
      </p:sp>
      <p:pic>
        <p:nvPicPr>
          <p:cNvPr id="5" name="Picture 4" descr="literature_review_agen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85" y="1456281"/>
            <a:ext cx="7818120" cy="502412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190F6756-A9EC-42E2-AA90-A9366D0863DF}"/>
              </a:ext>
            </a:extLst>
          </p:cNvPr>
          <p:cNvGrpSpPr/>
          <p:nvPr/>
        </p:nvGrpSpPr>
        <p:grpSpPr>
          <a:xfrm>
            <a:off x="7957465" y="590550"/>
            <a:ext cx="4199718" cy="6667500"/>
            <a:chOff x="8676800" y="919202"/>
            <a:chExt cx="2981801" cy="5810782"/>
          </a:xfrm>
        </p:grpSpPr>
        <p:sp>
          <p:nvSpPr>
            <p:cNvPr id="6" name="Rounded Rectangle 5"/>
            <p:cNvSpPr/>
            <p:nvPr/>
          </p:nvSpPr>
          <p:spPr>
            <a:xfrm>
              <a:off x="8676800" y="919202"/>
              <a:ext cx="2981801" cy="4970557"/>
            </a:xfrm>
            <a:prstGeom prst="roundRect">
              <a:avLst>
                <a:gd name="adj" fmla="val 9863"/>
              </a:avLst>
            </a:prstGeom>
            <a:solidFill>
              <a:srgbClr val="F8FAFC"/>
            </a:solidFill>
            <a:ln w="12700">
              <a:solidFill>
                <a:srgbClr val="D1D5D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850963" y="1012987"/>
              <a:ext cx="2560320" cy="27432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800" b="1" dirty="0">
                  <a:solidFill>
                    <a:srgbClr val="111827"/>
                  </a:solidFill>
                  <a:latin typeface="Aptos"/>
                </a:rPr>
                <a:t>Model roles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796528" y="1353312"/>
              <a:ext cx="2724912" cy="960120"/>
            </a:xfrm>
            <a:prstGeom prst="roundRect">
              <a:avLst/>
            </a:prstGeom>
            <a:solidFill>
              <a:srgbClr val="FEFCE8"/>
            </a:solidFill>
            <a:ln w="17780">
              <a:solidFill>
                <a:srgbClr val="CA8A0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918934" y="1417662"/>
              <a:ext cx="2359152" cy="25603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50" b="1" dirty="0" err="1">
                  <a:solidFill>
                    <a:srgbClr val="111827"/>
                  </a:solidFill>
                  <a:latin typeface="Aptos"/>
                </a:rPr>
                <a:t>PubMedBERT</a:t>
              </a:r>
              <a:endParaRPr sz="1450" b="1" dirty="0">
                <a:solidFill>
                  <a:srgbClr val="111827"/>
                </a:solidFill>
                <a:latin typeface="Apto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18934" y="1707640"/>
              <a:ext cx="2600430" cy="54182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300"/>
                </a:spcAft>
                <a:defRPr sz="1180">
                  <a:solidFill>
                    <a:srgbClr val="4B5563"/>
                  </a:solidFill>
                  <a:latin typeface="Aptos"/>
                </a:defRPr>
              </a:pPr>
              <a:r>
                <a:rPr dirty="0"/>
                <a:t>Ranks candidate papers</a:t>
              </a:r>
            </a:p>
            <a:p>
              <a:pPr>
                <a:spcAft>
                  <a:spcPts val="300"/>
                </a:spcAft>
                <a:defRPr sz="1180">
                  <a:solidFill>
                    <a:srgbClr val="4B5563"/>
                  </a:solidFill>
                  <a:latin typeface="Aptos"/>
                </a:defRPr>
              </a:pPr>
              <a:r>
                <a:rPr dirty="0"/>
                <a:t>Uses biomedical/scientific semantic similarity</a:t>
              </a:r>
            </a:p>
            <a:p>
              <a:pPr>
                <a:spcAft>
                  <a:spcPts val="300"/>
                </a:spcAft>
                <a:defRPr sz="1180">
                  <a:solidFill>
                    <a:srgbClr val="4B5563"/>
                  </a:solidFill>
                  <a:latin typeface="Aptos"/>
                </a:defRPr>
              </a:pPr>
              <a:r>
                <a:rPr dirty="0"/>
                <a:t>Reduces slow local LLM calls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796528" y="2487168"/>
              <a:ext cx="2724912" cy="1078992"/>
            </a:xfrm>
            <a:prstGeom prst="roundRect">
              <a:avLst/>
            </a:prstGeom>
            <a:solidFill>
              <a:srgbClr val="F5F3FF"/>
            </a:solidFill>
            <a:ln w="17780">
              <a:solidFill>
                <a:srgbClr val="7C3A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918934" y="2553237"/>
              <a:ext cx="2359152" cy="25603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50" b="1" dirty="0" err="1">
                  <a:solidFill>
                    <a:srgbClr val="111827"/>
                  </a:solidFill>
                  <a:latin typeface="Aptos"/>
                </a:rPr>
                <a:t>Qwen</a:t>
              </a:r>
              <a:r>
                <a:rPr sz="1450" b="1" dirty="0">
                  <a:solidFill>
                    <a:srgbClr val="111827"/>
                  </a:solidFill>
                  <a:latin typeface="Aptos"/>
                </a:rPr>
                <a:t> via </a:t>
              </a:r>
              <a:r>
                <a:rPr sz="1450" b="1" dirty="0" err="1">
                  <a:solidFill>
                    <a:srgbClr val="111827"/>
                  </a:solidFill>
                  <a:latin typeface="Aptos"/>
                </a:rPr>
                <a:t>Ollama</a:t>
              </a:r>
              <a:endParaRPr sz="1450" b="1" dirty="0">
                <a:solidFill>
                  <a:srgbClr val="111827"/>
                </a:solidFill>
                <a:latin typeface="Apto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949691" y="2878403"/>
              <a:ext cx="2251710" cy="54182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300"/>
                </a:spcAft>
                <a:defRPr sz="1180">
                  <a:solidFill>
                    <a:srgbClr val="4B5563"/>
                  </a:solidFill>
                  <a:latin typeface="Aptos"/>
                </a:defRPr>
              </a:pPr>
              <a:r>
                <a:rPr dirty="0"/>
                <a:t>Screens eligibility</a:t>
              </a:r>
            </a:p>
            <a:p>
              <a:pPr>
                <a:spcAft>
                  <a:spcPts val="300"/>
                </a:spcAft>
                <a:defRPr sz="1180">
                  <a:solidFill>
                    <a:srgbClr val="4B5563"/>
                  </a:solidFill>
                  <a:latin typeface="Aptos"/>
                </a:defRPr>
              </a:pPr>
              <a:r>
                <a:rPr dirty="0"/>
                <a:t>Extracts structured JSON</a:t>
              </a:r>
            </a:p>
            <a:p>
              <a:pPr>
                <a:spcAft>
                  <a:spcPts val="300"/>
                </a:spcAft>
                <a:defRPr sz="1180">
                  <a:solidFill>
                    <a:srgbClr val="4B5563"/>
                  </a:solidFill>
                  <a:latin typeface="Aptos"/>
                </a:defRPr>
              </a:pPr>
              <a:r>
                <a:rPr dirty="0"/>
                <a:t>Writes detailed summaries and manuscript draft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796528" y="3749039"/>
              <a:ext cx="2724912" cy="960120"/>
            </a:xfrm>
            <a:prstGeom prst="roundRect">
              <a:avLst/>
            </a:prstGeom>
            <a:solidFill>
              <a:srgbClr val="FDF2F8"/>
            </a:solidFill>
            <a:ln w="17780">
              <a:solidFill>
                <a:srgbClr val="DB277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905399" y="3788966"/>
              <a:ext cx="1253585" cy="19446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50" b="1" dirty="0">
                  <a:solidFill>
                    <a:srgbClr val="111827"/>
                  </a:solidFill>
                  <a:latin typeface="Aptos"/>
                </a:rPr>
                <a:t>Human reviewer drafts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979408" y="4056584"/>
              <a:ext cx="2322576" cy="30175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300"/>
                </a:spcAft>
                <a:defRPr sz="1180">
                  <a:solidFill>
                    <a:srgbClr val="4B5563"/>
                  </a:solidFill>
                  <a:latin typeface="Aptos"/>
                </a:defRPr>
              </a:pPr>
              <a:r>
                <a:rPr dirty="0"/>
                <a:t>Verifies eligibility</a:t>
              </a:r>
            </a:p>
            <a:p>
              <a:pPr>
                <a:spcAft>
                  <a:spcPts val="300"/>
                </a:spcAft>
                <a:defRPr sz="1180">
                  <a:solidFill>
                    <a:srgbClr val="4B5563"/>
                  </a:solidFill>
                  <a:latin typeface="Aptos"/>
                </a:defRPr>
              </a:pPr>
              <a:r>
                <a:rPr dirty="0"/>
                <a:t>Checks extracted facts</a:t>
              </a:r>
            </a:p>
            <a:p>
              <a:pPr>
                <a:spcAft>
                  <a:spcPts val="300"/>
                </a:spcAft>
                <a:defRPr sz="1180">
                  <a:solidFill>
                    <a:srgbClr val="4B5563"/>
                  </a:solidFill>
                  <a:latin typeface="Aptos"/>
                </a:defRPr>
              </a:pPr>
              <a:r>
                <a:rPr dirty="0"/>
                <a:t>Approves manuscript claims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796528" y="4935323"/>
              <a:ext cx="2724912" cy="749808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EA580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18934" y="5014866"/>
              <a:ext cx="1261586" cy="21458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600" b="1" dirty="0">
                  <a:solidFill>
                    <a:srgbClr val="EA580C"/>
                  </a:solidFill>
                  <a:latin typeface="Aptos"/>
                </a:rPr>
                <a:t>Best practice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905399" y="5270974"/>
              <a:ext cx="2451449" cy="1408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50" b="0" dirty="0">
                  <a:solidFill>
                    <a:srgbClr val="4B5563"/>
                  </a:solidFill>
                  <a:latin typeface="Aptos"/>
                </a:rPr>
                <a:t>Start with 5-10 papers, inspect summaries, then scale up.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201400" y="6565392"/>
              <a:ext cx="457200" cy="1645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sz="850" b="0">
                  <a:solidFill>
                    <a:srgbClr val="4B5563"/>
                  </a:solidFill>
                  <a:latin typeface="Aptos"/>
                </a:rPr>
                <a:t>2/2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263</Words>
  <Application>Microsoft Office PowerPoint</Application>
  <PresentationFormat>Widescreen</PresentationFormat>
  <Paragraphs>55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Fahmida Haque</cp:lastModifiedBy>
  <cp:revision>2</cp:revision>
  <dcterms:created xsi:type="dcterms:W3CDTF">2013-01-27T09:14:16Z</dcterms:created>
  <dcterms:modified xsi:type="dcterms:W3CDTF">2026-06-15T01:13:57Z</dcterms:modified>
  <cp:category/>
</cp:coreProperties>
</file>